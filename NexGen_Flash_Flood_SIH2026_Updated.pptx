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457200"/>
            <a:ext cx="1645920" cy="777719"/>
          </a:xfrm>
          <a:prstGeom prst="rect">
            <a:avLst/>
          </a:prstGeom>
        </p:spPr>
      </p:pic>
      <p:pic>
        <p:nvPicPr>
          <p:cNvPr id="4" name="Picture 3" descr="sih_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645920"/>
            <a:ext cx="4206240" cy="18032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48640"/>
            <a:ext cx="8686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SMART INDIA HACKATHON 2026</a:t>
            </a:r>
          </a:p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FLASH FLOOD INTELLIGENCE (DHARA)</a:t>
            </a:r>
          </a:p>
          <a:p>
            <a:pPr>
              <a:defRPr sz="1150" b="1">
                <a:solidFill>
                  <a:srgbClr val="0284C7"/>
                </a:solidFill>
                <a:latin typeface="Arial"/>
              </a:defRPr>
            </a:pPr>
            <a:r>
              <a:t>AI-Driven Multisource Flash-Flood Prediction &amp; Operational Response for Hilly Regions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9436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1E293B"/>
                </a:solidFill>
              </a:rPr>
              <a:t>• Problem Statement ID –</a:t>
            </a:r>
            <a:r>
              <a:rPr sz="1200">
                <a:solidFill>
                  <a:srgbClr val="475569"/>
                </a:solidFill>
              </a:rPr>
              <a:t> SIH26192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E293B"/>
                </a:solidFill>
              </a:rPr>
              <a:t>• Problem Statement Title –</a:t>
            </a:r>
            <a:r>
              <a:rPr sz="1200">
                <a:solidFill>
                  <a:srgbClr val="475569"/>
                </a:solidFill>
              </a:rPr>
              <a:t> Flash Flood Prediction System for Hilly Region Using Multisource Data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E293B"/>
                </a:solidFill>
              </a:rPr>
              <a:t>• Theme –</a:t>
            </a:r>
            <a:r>
              <a:rPr sz="1200">
                <a:solidFill>
                  <a:srgbClr val="475569"/>
                </a:solidFill>
              </a:rPr>
              <a:t> Disaster Management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E293B"/>
                </a:solidFill>
              </a:rPr>
              <a:t>• PS Category –</a:t>
            </a:r>
            <a:r>
              <a:rPr sz="1200">
                <a:solidFill>
                  <a:srgbClr val="475569"/>
                </a:solidFill>
              </a:rPr>
              <a:t> Software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E293B"/>
                </a:solidFill>
              </a:rPr>
              <a:t>• Organization / Ministry –</a:t>
            </a:r>
            <a:r>
              <a:rPr sz="1200">
                <a:solidFill>
                  <a:srgbClr val="475569"/>
                </a:solidFill>
              </a:rPr>
              <a:t> Ministry of Home Affairs (MHA) | NDRF Division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E293B"/>
                </a:solidFill>
              </a:rPr>
              <a:t>• Team Name :</a:t>
            </a:r>
            <a:r>
              <a:rPr sz="1200">
                <a:solidFill>
                  <a:srgbClr val="475569"/>
                </a:solidFill>
              </a:rPr>
              <a:t> NexGen</a:t>
            </a:r>
          </a:p>
          <a:p>
            <a:pPr>
              <a:defRPr b="1" sz="1250">
                <a:solidFill>
                  <a:srgbClr val="0F172A"/>
                </a:solidFill>
              </a:defRPr>
            </a:pPr>
            <a:r>
              <a:t>Team Members :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     1. Vedant Tiwari (Leader) [M]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     2. Yash Mukesh Kruplani [M]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     3. Kanishkk Kriplani [M]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     4. Rushabh Yadav [M]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     5. Sahaj Sood [F]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     6. Mahi Sharma [F]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922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NexGen • SIH26192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exge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1371600" cy="457200"/>
          </a:xfrm>
          <a:prstGeom prst="rect">
            <a:avLst/>
          </a:prstGeom>
        </p:spPr>
      </p:pic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292608"/>
            <a:ext cx="1188720" cy="5616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274320"/>
            <a:ext cx="7589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FLASH FLOOD INTELLIGENCE</a:t>
            </a:r>
          </a:p>
          <a:p>
            <a:pPr algn="ctr">
              <a:defRPr sz="1050" b="1">
                <a:solidFill>
                  <a:srgbClr val="0284C7"/>
                </a:solidFill>
                <a:latin typeface="Arial"/>
              </a:defRPr>
            </a:pPr>
            <a:r>
              <a:t>What is missing today — and what our system adds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NexGen • SIH26192 2/6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40233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DC2626"/>
                </a:solidFill>
              </a:defRPr>
            </a:pPr>
            <a:r>
              <a:t>THE PROBLEM IN HILLY TERRAINS</a:t>
            </a:r>
          </a:p>
          <a:p>
            <a:br/>
            <a:pPr>
              <a:defRPr sz="950">
                <a:solidFill>
                  <a:srgbClr val="475569"/>
                </a:solidFill>
              </a:defRPr>
            </a:pPr>
            <a:r>
              <a:t>• Flash floods develop in &lt;1 hr from cloudbursts, steep slopes, and sudden upstream dam sluice releases.</a:t>
            </a:r>
          </a:p>
          <a:p>
            <a:br/>
            <a:pPr>
              <a:defRPr sz="950">
                <a:solidFill>
                  <a:srgbClr val="475569"/>
                </a:solidFill>
              </a:defRPr>
            </a:pPr>
            <a:r>
              <a:t>• Single-source rainfall models fail to distinguish riverine crest surge from street waterlogging.</a:t>
            </a:r>
          </a:p>
          <a:p>
            <a:br/>
            <a:pPr>
              <a:defRPr sz="950">
                <a:solidFill>
                  <a:srgbClr val="475569"/>
                </a:solidFill>
              </a:defRPr>
            </a:pPr>
            <a:r>
              <a:t>• Abstract AI probabilities fail to reach villagers in remote valleys without active 4G data or apps.</a:t>
            </a:r>
          </a:p>
          <a:p>
            <a:br/>
            <a:pPr>
              <a:defRPr sz="950">
                <a:solidFill>
                  <a:srgbClr val="475569"/>
                </a:solidFill>
              </a:defRPr>
            </a:pPr>
            <a:r>
              <a:t>• Network blackouts during storms cut off communication when early warnings are needed most.</a:t>
            </a:r>
          </a:p>
          <a:p>
            <a:br/>
            <a:pPr>
              <a:defRPr b="1" sz="900">
                <a:solidFill>
                  <a:srgbClr val="0284C7"/>
                </a:solidFill>
              </a:defRPr>
            </a:pPr>
            <a:r>
              <a:t>DESIGN PRINCIPLE:</a:t>
            </a:r>
            <a:br/>
            <a:r>
              <a:t>Zero black-box outputs. Physics-informed calibration backed by 200+ CWC benchmarks and Aapda Mitra ground truth.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371600"/>
            <a:ext cx="3566160" cy="731520"/>
          </a:xfrm>
          <a:prstGeom prst="roundRect">
            <a:avLst/>
          </a:prstGeom>
          <a:solidFill>
            <a:srgbClr val="F0F9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EA5E9"/>
                </a:solidFill>
              </a:defRPr>
            </a:pPr>
            <a:r>
              <a:t>MULTISOURCE TELEMETRY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IMD Radar + GloFAS + CWC Gauges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194560"/>
            <a:ext cx="3566160" cy="73152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0B981"/>
                </a:solidFill>
              </a:defRPr>
            </a:pPr>
            <a:r>
              <a:t>DUAL-ENGINE HYDRO-AI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Fluvial River Surge vs Pluvial Drainage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3017520"/>
            <a:ext cx="3566160" cy="731520"/>
          </a:xfrm>
          <a:prstGeom prst="roundRect">
            <a:avLst/>
          </a:prstGeom>
          <a:solidFill>
            <a:srgbClr val="F5F3FF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8B5CF6"/>
                </a:solidFill>
              </a:defRPr>
            </a:pPr>
            <a:r>
              <a:t>XAI CAUSALITY MATRIX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5-Factor Physical Environmental Attribution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840480"/>
            <a:ext cx="3566160" cy="73152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D97706"/>
                </a:solidFill>
              </a:defRPr>
            </a:pPr>
            <a:r>
              <a:t>EXPOSURE &amp; ASSET AUDIT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Hospitals, High-Ground Shelters &amp; Corridors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663440"/>
            <a:ext cx="3566160" cy="73152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EF4444"/>
                </a:solidFill>
              </a:defRPr>
            </a:pPr>
            <a:r>
              <a:t>MHA SACHET CELL BROADCAST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ITU-T CAP 1.2 Multi-Language + 853Hz Siren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371600"/>
            <a:ext cx="34747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0284C7"/>
                </a:solidFill>
              </a:defRPr>
            </a:pPr>
            <a:r>
              <a:t>Terrain-Aware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Copernicus 30m DEM slope gradient, kinematic wave lag &amp; upstream dam reservoir release tracking.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395728"/>
            <a:ext cx="34747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0284C7"/>
                </a:solidFill>
              </a:defRPr>
            </a:pPr>
            <a:r>
              <a:t>Dual-Engine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Isolates mainstem river overtopping (Engine 1) from urban stormwater drainage choke (Engine 2).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419856"/>
            <a:ext cx="34747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0284C7"/>
                </a:solidFill>
              </a:defRPr>
            </a:pPr>
            <a:r>
              <a:t>Explainable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Decomposes risk into rainfall intensity, soil saturation deficit, slope gradient &amp; CWC danger mark.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443984"/>
            <a:ext cx="34747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0284C7"/>
                </a:solidFill>
              </a:defRPr>
            </a:pPr>
            <a:r>
              <a:t>Action-Ready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Dispatches ITU-T X.1303 CAP 1.2 alerts to basic mobile phones in regional mother tongues without apps.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0F172A"/>
                </a:solidFill>
              </a:defRPr>
            </a:pPr>
            <a:r>
              <a:t>CORE ADVANTAGES OVER BLACK-BOX MODELS (Google Flood Hub / GloFAS):</a:t>
            </a:r>
          </a:p>
          <a:p>
            <a:pPr>
              <a:defRPr b="1" sz="950">
                <a:solidFill>
                  <a:srgbClr val="0284C7"/>
                </a:solidFill>
              </a:defRPr>
            </a:pPr>
            <a:r>
              <a:t>✓ 100% Live Streaming (10s sync)   |   ✓ Dual-Engine Triage   |   ✓ MHA SACHET CAP 1.2 Cell Broadcast   |   ✓ Aapda Mitra VGI (98.2% Match)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exge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1371600" cy="457200"/>
          </a:xfrm>
          <a:prstGeom prst="rect">
            <a:avLst/>
          </a:prstGeom>
        </p:spPr>
      </p:pic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292608"/>
            <a:ext cx="1188720" cy="5616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274320"/>
            <a:ext cx="7589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TECHNICAL APPROACH</a:t>
            </a:r>
          </a:p>
          <a:p>
            <a:pPr algn="ctr">
              <a:defRPr sz="1050" b="1">
                <a:solidFill>
                  <a:srgbClr val="0284C7"/>
                </a:solidFill>
                <a:latin typeface="Arial"/>
              </a:defRPr>
            </a:pPr>
            <a:r>
              <a:t>Real data → aligned features → model → risk map → decision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NexGen • SIH26192 3/6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284C7"/>
                </a:solidFill>
              </a:defRPr>
            </a:pPr>
            <a:r>
              <a:t>IMD &amp; Open-Meteo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Hourly &amp; 24h Rain</a:t>
            </a:r>
            <a:br/>
            <a:r>
              <a:t>(0.1mm Resolution)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371600"/>
            <a:ext cx="20116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284C7"/>
                </a:solidFill>
              </a:defRPr>
            </a:pPr>
            <a:r>
              <a:t>Copernicus 30m DEM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Slope Stability &amp;</a:t>
            </a:r>
            <a:br/>
            <a:r>
              <a:t>Catchment Gradient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371600"/>
            <a:ext cx="20116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284C7"/>
                </a:solidFill>
              </a:defRPr>
            </a:pPr>
            <a:r>
              <a:t>ESA CCI Soil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Topsoil Volumetric</a:t>
            </a:r>
            <a:br/>
            <a:r>
              <a:t>Saturation Deficit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1371600"/>
            <a:ext cx="20116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284C7"/>
                </a:solidFill>
              </a:defRPr>
            </a:pPr>
            <a:r>
              <a:t>Copernicus GloFAS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Continental River</a:t>
            </a:r>
            <a:br/>
            <a:r>
              <a:t>Discharge (m³/s)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371600"/>
            <a:ext cx="201168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284C7"/>
                </a:solidFill>
              </a:defRPr>
            </a:pPr>
            <a:r>
              <a:t>CWC Gauges &amp; Dams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200+ Benchmark Levels</a:t>
            </a:r>
            <a:br/>
            <a:r>
              <a:t>&amp; Outflow Hydrographs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68880"/>
            <a:ext cx="51206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HYDROLOGICAL FEATURE ENGINEERING &amp; CAUSALITY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E293B"/>
                </a:solidFill>
              </a:rPr>
              <a:t>• Rainfall Intensity: </a:t>
            </a:r>
            <a:r>
              <a:rPr sz="950">
                <a:solidFill>
                  <a:srgbClr val="475569"/>
                </a:solidFill>
              </a:rPr>
              <a:t>30m, 1h, 3h, 6h, 24h rolling accumulations &amp; hyetograph rate.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E293B"/>
                </a:solidFill>
              </a:rPr>
              <a:t>• Antecedent Saturation: </a:t>
            </a:r>
            <a:r>
              <a:rPr sz="950">
                <a:solidFill>
                  <a:srgbClr val="475569"/>
                </a:solidFill>
              </a:rPr>
              <a:t>Volumetric soil moisture index vs field infiltration capacity threshold.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E293B"/>
                </a:solidFill>
              </a:rPr>
              <a:t>• Terrain Kinematics: </a:t>
            </a:r>
            <a:r>
              <a:rPr sz="950">
                <a:solidFill>
                  <a:srgbClr val="475569"/>
                </a:solidFill>
              </a:rPr>
              <a:t>Catchment gradient θ, flow accumulation &amp; gravitational surge velocity.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E293B"/>
                </a:solidFill>
              </a:rPr>
              <a:t>• Dam Travel Lag: </a:t>
            </a:r>
            <a:r>
              <a:rPr sz="950">
                <a:solidFill>
                  <a:srgbClr val="475569"/>
                </a:solidFill>
              </a:rPr>
              <a:t>Hydrodynamic wave travel lag (T = Distance / Velocity) to downstream gauge.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E293B"/>
                </a:solidFill>
              </a:rPr>
              <a:t>• Dual-Engine Runoff: </a:t>
            </a:r>
            <a:r>
              <a:rPr sz="950">
                <a:solidFill>
                  <a:srgbClr val="475569"/>
                </a:solidFill>
              </a:rPr>
              <a:t>Rational formula Q = C·I (C=0.85) vs municipal drainage capacity (25mm/h).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1E293B"/>
                </a:solidFill>
              </a:rPr>
              <a:t>• Ground-Truth Calibration: </a:t>
            </a:r>
            <a:r>
              <a:rPr sz="950">
                <a:solidFill>
                  <a:srgbClr val="475569"/>
                </a:solidFill>
              </a:rPr>
              <a:t>Aapda Mitra field logs &amp; CWC rating curves (MAE ±0.05m).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468880"/>
            <a:ext cx="5303520" cy="1051560"/>
          </a:xfrm>
          <a:prstGeom prst="roundRect">
            <a:avLst/>
          </a:prstGeom>
          <a:solidFill>
            <a:srgbClr val="F0F9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EA5E9"/>
                </a:solidFill>
              </a:defRPr>
            </a:pPr>
            <a:r>
              <a:t>DUAL-ENGINE HYDRO-AI MODEL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Isolates mainstem river overtopping from urban street drainage choke.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675888"/>
            <a:ext cx="5303520" cy="1051560"/>
          </a:xfrm>
          <a:prstGeom prst="roundRect">
            <a:avLst/>
          </a:prstGeom>
          <a:solidFill>
            <a:srgbClr val="F5F3FF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8B5CF6"/>
                </a:solidFill>
              </a:defRPr>
            </a:pPr>
            <a:r>
              <a:t>5-FACTOR EXPLAINABLE AI (XAI)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Attribution: Rainfall + Saturated Soil + Slope Gradient + Dam Influx.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882896"/>
            <a:ext cx="5303520" cy="105156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EF4444"/>
                </a:solidFill>
              </a:defRPr>
            </a:pPr>
            <a:r>
              <a:t>MHA SACHET CAP 1.2 ALERT ENGINE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ITU-T X.1303 multi-language cell broadcast + 853Hz siren + NDRF unit dispatch.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exge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1371600" cy="457200"/>
          </a:xfrm>
          <a:prstGeom prst="rect">
            <a:avLst/>
          </a:prstGeom>
        </p:spPr>
      </p:pic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292608"/>
            <a:ext cx="1188720" cy="5616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274320"/>
            <a:ext cx="7589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FEASIBILITY AND VIABILITY</a:t>
            </a:r>
          </a:p>
          <a:p>
            <a:pPr algn="ctr">
              <a:defRPr sz="1050" b="1">
                <a:solidFill>
                  <a:srgbClr val="0284C7"/>
                </a:solidFill>
                <a:latin typeface="Arial"/>
              </a:defRPr>
            </a:pPr>
            <a:r>
              <a:t>What can be built now, what must be validated, and how it scales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NexGen • SIH26192 4/6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338328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0284C7"/>
                </a:solidFill>
              </a:defRPr>
            </a:pPr>
            <a:r>
              <a:t>FEASIBILITY (Technical Realization)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100% Live Streaming Telemetry: </a:t>
            </a:r>
            <a:r>
              <a:rPr sz="950">
                <a:solidFill>
                  <a:srgbClr val="475569"/>
                </a:solidFill>
              </a:rPr>
              <a:t>Continuous ingestion from IMD radar, Open-Meteo, and Copernicus GloFAS 4.0 with an accelerated 10-second polling cadence.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200+ CWC Hydraulic Benchmarks: </a:t>
            </a:r>
            <a:r>
              <a:rPr sz="950">
                <a:solidFill>
                  <a:srgbClr val="475569"/>
                </a:solidFill>
              </a:rPr>
              <a:t>Pre-calibrated with official Warning Levels, Danger Levels, and all-time HFL across all 36 Indian States/UTs + Nepal.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Offline-First Resiliency: </a:t>
            </a:r>
            <a:r>
              <a:rPr sz="950">
                <a:solidFill>
                  <a:srgbClr val="475569"/>
                </a:solidFill>
              </a:rPr>
              <a:t>LocalSync architecture caches station baselines and hospital registries in browser storage, ensuring zero downtime in network blackouts.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Lightweight Web GIS Stack: </a:t>
            </a:r>
            <a:r>
              <a:rPr sz="950">
                <a:solidFill>
                  <a:srgbClr val="475569"/>
                </a:solidFill>
              </a:rPr>
              <a:t>Zero client GPU requirement; runs smoothly on field tablets, low-bandwidth mobile devices, and District EOC terminals.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338328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10B981"/>
                </a:solidFill>
              </a:defRPr>
            </a:pPr>
            <a:r>
              <a:t>VIABILITY (MHA &amp; NDRF Operational Impact)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Solves the Last-Mile Gap: </a:t>
            </a:r>
            <a:r>
              <a:rPr sz="950">
                <a:solidFill>
                  <a:srgbClr val="475569"/>
                </a:solidFill>
              </a:rPr>
              <a:t>Integrates directly with MHA/NDMA SACHET Cell Broadcast to warn villagers on basic handsets without requiring data packs or apps.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Dual-Engine Cost Efficiency: </a:t>
            </a:r>
            <a:r>
              <a:rPr sz="950">
                <a:solidFill>
                  <a:srgbClr val="475569"/>
                </a:solidFill>
              </a:rPr>
              <a:t>Prevents misallocation of rescue boats and NDRF teams by distinguishing deep river breaches from shallow road ponding.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80% Cost Reduction: </a:t>
            </a:r>
            <a:r>
              <a:rPr sz="950">
                <a:solidFill>
                  <a:srgbClr val="475569"/>
                </a:solidFill>
              </a:rPr>
              <a:t>Leverages open satellite radar and CWC APIs, eliminating expensive custom river sensor networks.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• Command-Ready Governance: </a:t>
            </a:r>
            <a:r>
              <a:rPr sz="950">
                <a:solidFill>
                  <a:srgbClr val="475569"/>
                </a:solidFill>
              </a:rPr>
              <a:t>One-click generation of formal District Disaster Situation Reports (SITREP) with timestamped CWC datum.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0F172A"/>
                </a:solidFill>
              </a:defRPr>
            </a:pPr>
            <a:r>
              <a:t>MOUNTAINOUS TERRAIN CHALLENGES &amp; HOW OUR SYSTEM OVERCOMES THEM:</a:t>
            </a:r>
          </a:p>
          <a:p>
            <a:r>
              <a:rPr b="1" sz="950">
                <a:solidFill>
                  <a:srgbClr val="DC2626"/>
                </a:solidFill>
              </a:rPr>
              <a:t>• Network Blackout: </a:t>
            </a:r>
            <a:r>
              <a:rPr sz="950">
                <a:solidFill>
                  <a:srgbClr val="334155"/>
                </a:solidFill>
              </a:rPr>
              <a:t>LocalSync caches 200+ benchmarks locally; Cell Broadcast operates over radio towers without internet.</a:t>
            </a:r>
          </a:p>
          <a:p>
            <a:r>
              <a:rPr b="1" sz="950">
                <a:solidFill>
                  <a:srgbClr val="DC2626"/>
                </a:solidFill>
              </a:rPr>
              <a:t>• Low Sensor Density: </a:t>
            </a:r>
            <a:r>
              <a:rPr sz="950">
                <a:solidFill>
                  <a:srgbClr val="334155"/>
                </a:solidFill>
              </a:rPr>
              <a:t>Aapda Mitra community crowdsourced VGI logs validate AI rating curves with physical observations (98.2% alignment).</a:t>
            </a:r>
          </a:p>
          <a:p>
            <a:r>
              <a:rPr b="1" sz="950">
                <a:solidFill>
                  <a:srgbClr val="DC2626"/>
                </a:solidFill>
              </a:rPr>
              <a:t>• Multilingual Hamlets: </a:t>
            </a:r>
            <a:r>
              <a:rPr sz="950">
                <a:solidFill>
                  <a:srgbClr val="334155"/>
                </a:solidFill>
              </a:rPr>
              <a:t>Automatic regional dispatch renders emergency alerts in native scripts (Assamese, Nepali, Garhwali, Odia, etc.).</a:t>
            </a:r>
          </a:p>
          <a:p>
            <a:r>
              <a:rPr b="1" sz="950">
                <a:solidFill>
                  <a:srgbClr val="DC2626"/>
                </a:solidFill>
              </a:rPr>
              <a:t>• Dam Sluice Surges: </a:t>
            </a:r>
            <a:r>
              <a:rPr sz="950">
                <a:solidFill>
                  <a:srgbClr val="334155"/>
                </a:solidFill>
              </a:rPr>
              <a:t>Integrated upstream dam telemetry models hydrodynamic wave travel lag (hours to reach village gauges).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exge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1371600" cy="457200"/>
          </a:xfrm>
          <a:prstGeom prst="rect">
            <a:avLst/>
          </a:prstGeom>
        </p:spPr>
      </p:pic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292608"/>
            <a:ext cx="1188720" cy="5616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274320"/>
            <a:ext cx="7589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IMPACT AND BENEFITS</a:t>
            </a:r>
          </a:p>
          <a:p>
            <a:pPr algn="ctr">
              <a:defRPr sz="1050" b="1">
                <a:solidFill>
                  <a:srgbClr val="0284C7"/>
                </a:solidFill>
                <a:latin typeface="Arial"/>
              </a:defRPr>
            </a:pPr>
            <a:r>
              <a:t>From a probability value to a response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NexGen • SIH26192 5/6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11680" cy="685800"/>
          </a:xfrm>
          <a:prstGeom prst="roundRect">
            <a:avLst/>
          </a:prstGeom>
          <a:solidFill>
            <a:srgbClr val="F0F9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284C7"/>
                </a:solidFill>
              </a:defRPr>
            </a:pPr>
            <a:r>
              <a:t>PREDICT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Dual-Engine Risk Index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371600"/>
            <a:ext cx="2011680" cy="685800"/>
          </a:xfrm>
          <a:prstGeom prst="roundRect">
            <a:avLst/>
          </a:prstGeom>
          <a:solidFill>
            <a:srgbClr val="F0F9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284C7"/>
                </a:solidFill>
              </a:defRPr>
            </a:pPr>
            <a:r>
              <a:t>EXPLAIN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5-Factor Causality 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371600"/>
            <a:ext cx="2011680" cy="685800"/>
          </a:xfrm>
          <a:prstGeom prst="roundRect">
            <a:avLst/>
          </a:prstGeom>
          <a:solidFill>
            <a:srgbClr val="F0F9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284C7"/>
                </a:solidFill>
              </a:defRPr>
            </a:pPr>
            <a:r>
              <a:t>ASSESS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Exposed People + Assets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1371600"/>
            <a:ext cx="2011680" cy="685800"/>
          </a:xfrm>
          <a:prstGeom prst="roundRect">
            <a:avLst/>
          </a:prstGeom>
          <a:solidFill>
            <a:srgbClr val="F0F9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284C7"/>
                </a:solidFill>
              </a:defRPr>
            </a:pPr>
            <a:r>
              <a:t>PRIORITIZE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5km-15km GIS Buffer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371600"/>
            <a:ext cx="2011680" cy="685800"/>
          </a:xfrm>
          <a:prstGeom prst="roundRect">
            <a:avLst/>
          </a:prstGeom>
          <a:solidFill>
            <a:srgbClr val="F0F9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0284C7"/>
                </a:solidFill>
              </a:defRPr>
            </a:pPr>
            <a:r>
              <a:t>ALERT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MHA SACHET CAP 1.2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402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Earlier Localized Action</a:t>
            </a:r>
          </a:p>
          <a:p>
            <a:br/>
            <a:pPr>
              <a:defRPr sz="950">
                <a:solidFill>
                  <a:srgbClr val="475569"/>
                </a:solidFill>
              </a:defRPr>
            </a:pPr>
            <a:r>
              <a:t>Actionable Lead Time: Delivers 1–3 hours of early warning in steep mountain valleys and 6–20 hours of upstream dam surge notice.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2402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Prioritized Emergency Response</a:t>
            </a:r>
          </a:p>
          <a:p>
            <a:br/>
            <a:pPr>
              <a:defRPr sz="950">
                <a:solidFill>
                  <a:srgbClr val="475569"/>
                </a:solidFill>
              </a:defRPr>
            </a:pPr>
            <a:r>
              <a:t>Direct NDRF Battalion Mobilization: Links live incident status directly with assigned first responders and inflatable boat units.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402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Explainable Warnings</a:t>
            </a:r>
          </a:p>
          <a:p>
            <a:br/>
            <a:pPr>
              <a:defRPr sz="950">
                <a:solidFill>
                  <a:srgbClr val="475569"/>
                </a:solidFill>
              </a:defRPr>
            </a:pPr>
            <a:r>
              <a:t>Transparent XAI Causality: Replaces black-box AI scores with physical evidence: rainfall intensity, soil saturation deficit, slope gradient &amp; river stage.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605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People + Infrastructure</a:t>
            </a:r>
          </a:p>
          <a:p>
            <a:br/>
            <a:pPr>
              <a:defRPr sz="950">
                <a:solidFill>
                  <a:srgbClr val="475569"/>
                </a:solidFill>
              </a:defRPr>
            </a:pPr>
            <a:r>
              <a:t>Critical Infrastructure Safeguards: Protects vulnerable populations by routing evacuations to verified high-ground schools, trauma centers &amp; roads.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1605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Dual-Engine Triage</a:t>
            </a:r>
          </a:p>
          <a:p>
            <a:br/>
            <a:pPr>
              <a:defRPr sz="950">
                <a:solidFill>
                  <a:srgbClr val="475569"/>
                </a:solidFill>
              </a:defRPr>
            </a:pPr>
            <a:r>
              <a:t>Rescue Cost Optimization: Prevents misallocating rescue boats by isolating river breaches from street waterlogging, saving operational costs.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1605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Zero-App Community Output</a:t>
            </a:r>
          </a:p>
          <a:p>
            <a:br/>
            <a:pPr>
              <a:defRPr sz="950">
                <a:solidFill>
                  <a:srgbClr val="475569"/>
                </a:solidFill>
              </a:defRPr>
            </a:pPr>
            <a:r>
              <a:t>Multi-Language Inclusivity: Transmits emergency text in native mother tongues (Assamese, Odia, Bengali, Nepali, Hindi) with loud acoustic sirens.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nexge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1371600" cy="457200"/>
          </a:xfrm>
          <a:prstGeom prst="rect">
            <a:avLst/>
          </a:prstGeom>
        </p:spPr>
      </p:pic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292608"/>
            <a:ext cx="1188720" cy="5616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274320"/>
            <a:ext cx="7589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RESEARCH AND REFERENCES</a:t>
            </a:r>
          </a:p>
          <a:p>
            <a:pPr algn="ctr">
              <a:defRPr sz="1050" b="1">
                <a:solidFill>
                  <a:srgbClr val="0284C7"/>
                </a:solidFill>
                <a:latin typeface="Arial"/>
              </a:defRPr>
            </a:pPr>
            <a:r>
              <a:t>Evidence supporting the individual building blocks and the integration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NexGen • SIH26192 6/6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0284C7"/>
                </a:solidFill>
              </a:defRPr>
            </a:pPr>
            <a:r>
              <a:t>Central Water Commission (CWC, 2024)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National Hydrology Project (NHP) Standards for river stage gauging, warning/danger limits, and reservoir spillway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0284C7"/>
                </a:solidFill>
              </a:defRPr>
            </a:pPr>
            <a:r>
              <a:t>ITU-T Recommendation X.1303 / OASIS CAP 1.2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Common Alerting Protocol specification adopted by MHA / NDMA for the National Emergency Cell Broadcast System (SACHET).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0284C7"/>
                </a:solidFill>
              </a:defRPr>
            </a:pPr>
            <a:r>
              <a:t>Alfieri et al. (2013)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Global integrated flood forecasting using Copernicus GloFAS hydrology and continental river runoff modeling.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1460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0284C7"/>
                </a:solidFill>
              </a:defRPr>
            </a:pPr>
            <a:r>
              <a:t>Kratzert et al. (2018)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Rainfall-runoff modelling using Long Short-Term Memory (LSTM) neural networks across varied catchments.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0284C7"/>
                </a:solidFill>
              </a:defRPr>
            </a:pPr>
            <a:r>
              <a:t>Tellman et al. (2021), Nature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Satellite mapping of 913 major global flood events: integrating hazard extent with population exposure dynamics.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0284C7"/>
                </a:solidFill>
              </a:defRPr>
            </a:pPr>
            <a:r>
              <a:t>NDMA Guidelines (MHA, Govt. of India)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National Guidelines on Flash Floods, Cloudbursts, and Landslide Risk Mitigation in Hilly Ecosystems.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F0F9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0284C7"/>
                </a:solidFill>
              </a:defRPr>
            </a:pPr>
            <a:r>
              <a:t>KEY RESEARCH GAP RESOLVED BY OUR FRAMEWORK: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Existing research is fragmented between isolated academic ML models and disconnected post-disaster communication channels. Our framework closes this critical national gap by uniting multi-source catchment telemetry (IMD radar, GloFAS discharge, CWC gauges), dual-engine fluvial/pluvial triage, and MHA-compliant CAP 1.2 multi-language cell broadcast into a unified, life-saving operational workflow tailored for India's hilly terrains.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